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Satoshi Genesis working draft and whitepaper created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Satoshi Genesis working draft and whitepaper created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Satoshi Genesis working draft and whitepaper created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Satoshi Genesis working draft and whitepaper created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Satoshi Genesis working draft and whitepaper created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Satoshi Genesis working draft and whitepaper created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Satoshi Genesis working draft and whitepaper created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Satoshi Genesis working draft and whitepaper created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Satoshi Genesis working draft and whitepaper created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Satoshi Genesis working draft and whitepaper created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6F5F2"/>
          </a:solidFill>
          <a:ln w="12700">
            <a:solidFill>
              <a:srgbClr val="F6F5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SATOSHI GENESIS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75520" y="2743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v1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512064"/>
            <a:ext cx="108813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6419088"/>
            <a:ext cx="108813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7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network. Earn the fuel. Strengthen the core.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D7C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D7C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384048"/>
            <a:ext cx="10607040" cy="5989320"/>
          </a:xfrm>
          <a:prstGeom prst="rect">
            <a:avLst/>
          </a:prstGeom>
          <a:solidFill>
            <a:srgbClr val="08162F"/>
          </a:solidFill>
          <a:ln w="12700">
            <a:solidFill>
              <a:srgbClr val="2030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585216"/>
            <a:ext cx="10570464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6245352"/>
            <a:ext cx="10570464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25880"/>
            <a:ext cx="987552" cy="987552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CFA8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5276" y="1476756"/>
            <a:ext cx="685800" cy="6858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94A3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" y="1517904"/>
            <a:ext cx="329184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2121408"/>
            <a:ext cx="329184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606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BC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PITCH DECK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29718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Satoshi Genesis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08760" y="349300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dual-token ecosystem where utility powers activity and value remains anchored.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3822192"/>
            <a:ext cx="3474720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404164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tokens: SGEN and SFUEL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429768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Founder-approved working direction: Todd Jackson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76656" y="5276088"/>
            <a:ext cx="10570464" cy="420624"/>
          </a:xfrm>
          <a:prstGeom prst="rect">
            <a:avLst/>
          </a:prstGeom>
          <a:solidFill>
            <a:srgbClr val="0C1C3A"/>
          </a:solidFill>
          <a:ln w="12700">
            <a:solidFill>
              <a:srgbClr val="2434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542239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32688" y="555955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 working deck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58768" y="542239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58768" y="555955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April 2026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84848" y="5422392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assumption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84848" y="5559552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EVM-compatible / Base-first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86384" y="65105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5DB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layout | April 2026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35440" y="6510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5DB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working direction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4980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exists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129844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D7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 starts from a structural problem: one token should not be forced to do every job.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786384" y="1627632"/>
            <a:ext cx="5193792" cy="1463040"/>
          </a:xfrm>
          <a:prstGeom prst="roundRect">
            <a:avLst>
              <a:gd name="adj" fmla="val 3750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105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breaks in single-token systems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2084832"/>
            <a:ext cx="46634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emissions create constant sell pressure on the same asset that is supposed to hold value.</a:t>
            </a:r>
            <a:pPr indent="0" marL="0">
              <a:buNone/>
            </a:pPr>
            <a:r>
              <a:rPr lang="en-US" sz="13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Governance, rewards, access and speculation become tangled together.</a:t>
            </a:r>
            <a:pPr indent="0" marL="0">
              <a:buNone/>
            </a:pPr>
            <a:r>
              <a:rPr lang="en-US" sz="13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utility is weak, the token becomes a story instead of an operating system.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63056" y="1627632"/>
            <a:ext cx="5230368" cy="1463040"/>
          </a:xfrm>
          <a:prstGeom prst="roundRect">
            <a:avLst>
              <a:gd name="adj" fmla="val 3750"/>
            </a:avLst>
          </a:prstGeom>
          <a:solidFill>
            <a:srgbClr val="EEE8D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5936" y="18105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Satoshi Genesis thesis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27648" y="2084832"/>
            <a:ext cx="46634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SGEN is the capped core asset for staking, governance and long-term alignment.</a:t>
            </a:r>
            <a:pPr indent="0" marL="0">
              <a:buNone/>
            </a:pPr>
            <a:r>
              <a:rPr lang="en-US" sz="13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SFUEL is the reward and utility layer designed for activity, access and spend.</a:t>
            </a:r>
            <a:pPr indent="0" marL="0">
              <a:buNone/>
            </a:pPr>
            <a:r>
              <a:rPr lang="en-US" sz="13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 should circulate fast; value should stay anchored.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77824" y="3520440"/>
            <a:ext cx="10387584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3822192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3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“Separate value from velocity. Let the reward token move through the system while the core token remains scarce, staked and aligned with governance.”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05840" y="5047488"/>
            <a:ext cx="2212848" cy="749808"/>
          </a:xfrm>
          <a:prstGeom prst="roundRect">
            <a:avLst>
              <a:gd name="adj" fmla="val 4878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52120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93592" y="5047488"/>
            <a:ext cx="2212848" cy="749808"/>
          </a:xfrm>
          <a:prstGeom prst="roundRect">
            <a:avLst>
              <a:gd name="adj" fmla="val 4878"/>
            </a:avLst>
          </a:prstGeom>
          <a:solidFill>
            <a:srgbClr val="F4F0E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52120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Dual-token architecture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1344" y="5047488"/>
            <a:ext cx="2212848" cy="749808"/>
          </a:xfrm>
          <a:prstGeom prst="roundRect">
            <a:avLst>
              <a:gd name="adj" fmla="val 4878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52120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loop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769096" y="5047488"/>
            <a:ext cx="2212848" cy="749808"/>
          </a:xfrm>
          <a:prstGeom prst="roundRect">
            <a:avLst>
              <a:gd name="adj" fmla="val 4878"/>
            </a:avLst>
          </a:prstGeom>
          <a:solidFill>
            <a:srgbClr val="F4F0E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69096" y="52120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discipline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D7C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4980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two-token engine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129844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D7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operating loop keeps activity, rewards and value capture separated but connected.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877824" y="2148840"/>
            <a:ext cx="2011680" cy="1234440"/>
          </a:xfrm>
          <a:prstGeom prst="roundRect">
            <a:avLst>
              <a:gd name="adj" fmla="val 3704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1343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enter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587752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Wallets join, stake, participate in campaigns and features.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62656" y="2761488"/>
            <a:ext cx="219456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46120" y="2148840"/>
            <a:ext cx="2148840" cy="1234440"/>
          </a:xfrm>
          <a:prstGeom prst="roundRect">
            <a:avLst>
              <a:gd name="adj" fmla="val 3704"/>
            </a:avLst>
          </a:prstGeom>
          <a:solidFill>
            <a:srgbClr val="F4F0E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74136" y="2313432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 &amp; spend SFUEL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74136" y="258775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utility token rewards activity and powers in-network actions.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68112" y="2761488"/>
            <a:ext cx="219456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07024" y="2148840"/>
            <a:ext cx="2084832" cy="1234440"/>
          </a:xfrm>
          <a:prstGeom prst="roundRect">
            <a:avLst>
              <a:gd name="adj" fmla="val 3704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3134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Burn &amp; route fees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35040" y="25877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 creates burns and treasury flow instead of aimless dilution.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65008" y="2761488"/>
            <a:ext cx="219456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22208" y="2148840"/>
            <a:ext cx="1901952" cy="1234440"/>
          </a:xfrm>
          <a:prstGeom prst="roundRect">
            <a:avLst>
              <a:gd name="adj" fmla="val 3704"/>
            </a:avLst>
          </a:prstGeom>
          <a:solidFill>
            <a:srgbClr val="F4F0E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50224" y="23134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 SGEN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50224" y="258775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capped core token keeps governance, staking and long-term rights.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3977640"/>
            <a:ext cx="103327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41879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115568" y="4526280"/>
            <a:ext cx="2889504" cy="932688"/>
          </a:xfrm>
          <a:prstGeom prst="roundRect">
            <a:avLst>
              <a:gd name="adj" fmla="val 3922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5296" y="464515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role split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43584" y="4882896"/>
            <a:ext cx="2633472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SGEN is for value, rights and governance; SFUEL is for usage, rewards and movement.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4370832" y="4526280"/>
            <a:ext cx="2889504" cy="932688"/>
          </a:xfrm>
          <a:prstGeom prst="roundRect">
            <a:avLst>
              <a:gd name="adj" fmla="val 3922"/>
            </a:avLst>
          </a:prstGeom>
          <a:solidFill>
            <a:srgbClr val="F4F0E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464515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emissions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98848" y="4882896"/>
            <a:ext cx="2633472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reward layer can scale through policy without permanently changing the scarcity of the core asset.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7626096" y="4526280"/>
            <a:ext cx="2889504" cy="932688"/>
          </a:xfrm>
          <a:prstGeom prst="roundRect">
            <a:avLst>
              <a:gd name="adj" fmla="val 3922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464515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Spend-driven demand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54112" y="4882896"/>
            <a:ext cx="2633472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 must be spent, burned and recirculated through actual ecosystem activity.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D7C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4980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tokens, two jobs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129844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D7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works because each token has a clear mandate and different behavior inside the system.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868680" y="1691640"/>
            <a:ext cx="5257800" cy="4370832"/>
          </a:xfrm>
          <a:prstGeom prst="roundRect">
            <a:avLst>
              <a:gd name="adj" fmla="val 1674"/>
            </a:avLst>
          </a:prstGeom>
          <a:solidFill>
            <a:srgbClr val="08162F"/>
          </a:solidFill>
          <a:ln w="12700">
            <a:solidFill>
              <a:srgbClr val="0816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920240"/>
            <a:ext cx="790042" cy="790042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CFA8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3701" y="2040941"/>
            <a:ext cx="54864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94A3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74674" y="2073859"/>
            <a:ext cx="263347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74674" y="2556662"/>
            <a:ext cx="263347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9385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SGEN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12848" y="22494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3DB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capped core asset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3856" y="2798064"/>
            <a:ext cx="452628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1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for staking, governance and premium ecosystem rights</a:t>
            </a:r>
            <a:pPr indent="0" marL="0">
              <a:buNone/>
            </a:pPr>
            <a:r>
              <a:rPr lang="en-US" sz="1400" dirty="0">
                <a:solidFill>
                  <a:srgbClr val="F1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1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Carries long-term alignment and identity for committed holders</a:t>
            </a:r>
            <a:pPr indent="0" marL="0">
              <a:buNone/>
            </a:pPr>
            <a:r>
              <a:rPr lang="en-US" sz="1400" dirty="0">
                <a:solidFill>
                  <a:srgbClr val="F1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1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supply: 21,000,000 with no future minting after deployment</a:t>
            </a:r>
            <a:pPr indent="0" marL="0">
              <a:buNone/>
            </a:pPr>
            <a:r>
              <a:rPr lang="en-US" sz="1400" dirty="0">
                <a:solidFill>
                  <a:srgbClr val="F1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1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scarcity, slower movement, higher signal-to-noise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15568" y="4864608"/>
            <a:ext cx="4526280" cy="841248"/>
          </a:xfrm>
          <a:prstGeom prst="roundRect">
            <a:avLst>
              <a:gd name="adj" fmla="val 4348"/>
            </a:avLst>
          </a:prstGeom>
          <a:solidFill>
            <a:srgbClr val="0F2246"/>
          </a:solidFill>
          <a:ln w="12700">
            <a:solidFill>
              <a:srgbClr val="2337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506577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 it. Govern with it. Hold it as the anchor.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82512" y="1691640"/>
            <a:ext cx="4919472" cy="437083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2103120"/>
            <a:ext cx="713232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19385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SFUEL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39712" y="22494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7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reward and utility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2697480"/>
            <a:ext cx="406908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Earned through participation, used for features, access and in-network actions</a:t>
            </a:r>
            <a:pPr indent="0" marL="0">
              <a:buNone/>
            </a:pPr>
            <a:r>
              <a:rPr lang="en-US" sz="140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Emissions are controlled through policy and restricted reward contracts</a:t>
            </a:r>
            <a:pPr indent="0" marL="0">
              <a:buNone/>
            </a:pPr>
            <a:r>
              <a:rPr lang="en-US" sz="140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circulate faster with spend sinks, burns and fee routing</a:t>
            </a:r>
            <a:pPr indent="0" marL="0">
              <a:buNone/>
            </a:pPr>
            <a:r>
              <a:rPr lang="en-US" sz="140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activity without forcing constant sell pressure onto SGEN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11696" y="4754880"/>
            <a:ext cx="1700784" cy="310896"/>
          </a:xfrm>
          <a:prstGeom prst="roundRect">
            <a:avLst>
              <a:gd name="adj" fmla="val 23529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1696" y="4828032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631936" y="4754880"/>
            <a:ext cx="1700784" cy="310896"/>
          </a:xfrm>
          <a:prstGeom prst="roundRect">
            <a:avLst>
              <a:gd name="adj" fmla="val 23529"/>
            </a:avLst>
          </a:prstGeom>
          <a:solidFill>
            <a:srgbClr val="F4F0E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31936" y="4828032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11696" y="5230368"/>
            <a:ext cx="1700784" cy="310896"/>
          </a:xfrm>
          <a:prstGeom prst="roundRect">
            <a:avLst>
              <a:gd name="adj" fmla="val 23529"/>
            </a:avLst>
          </a:prstGeom>
          <a:solidFill>
            <a:srgbClr val="F3E3D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11696" y="5303520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 sinks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631936" y="5230368"/>
            <a:ext cx="1700784" cy="310896"/>
          </a:xfrm>
          <a:prstGeom prst="roundRect">
            <a:avLst>
              <a:gd name="adj" fmla="val 23529"/>
            </a:avLst>
          </a:prstGeom>
          <a:solidFill>
            <a:srgbClr val="DDE7D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31936" y="5303520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Burn logic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D7C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4980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loop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129844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D7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feeds utility, utility creates burns and fee flow, and the core token captures long-term rights.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5065776" y="2926080"/>
            <a:ext cx="1645920" cy="1645920"/>
          </a:xfrm>
          <a:prstGeom prst="ellipse">
            <a:avLst/>
          </a:prstGeom>
          <a:solidFill>
            <a:srgbClr val="08162F"/>
          </a:solidFill>
          <a:ln w="12700">
            <a:solidFill>
              <a:srgbClr val="0816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68696" y="3429000"/>
            <a:ext cx="658368" cy="65836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CFA8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3529584"/>
            <a:ext cx="457200" cy="4572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94A3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78424" y="3557016"/>
            <a:ext cx="219456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78424" y="3959352"/>
            <a:ext cx="219456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0096" y="4187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SGEN core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81528" y="3584448"/>
            <a:ext cx="649224" cy="-128016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06440" y="1920240"/>
            <a:ext cx="2002536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966960" y="2304288"/>
            <a:ext cx="274320" cy="1298448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281160" y="4370832"/>
            <a:ext cx="-2606040" cy="950976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64608" y="4983480"/>
            <a:ext cx="-2075688" cy="-100584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97280" y="3200400"/>
            <a:ext cx="1965960" cy="749808"/>
          </a:xfrm>
          <a:prstGeom prst="roundRect">
            <a:avLst>
              <a:gd name="adj" fmla="val 6098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328416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Users act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25296" y="3529584"/>
            <a:ext cx="170992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Stake, join campaigns, use features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49040" y="1554480"/>
            <a:ext cx="2057400" cy="749808"/>
          </a:xfrm>
          <a:prstGeom prst="roundRect">
            <a:avLst>
              <a:gd name="adj" fmla="val 6098"/>
            </a:avLst>
          </a:prstGeom>
          <a:solidFill>
            <a:srgbClr val="F4F0E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77056" y="168249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Earn SFUEL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77056" y="1883664"/>
            <a:ext cx="180136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Participation creates utility rewards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818120" y="1554480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46136" y="1682496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Spend SFUEL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46136" y="1883664"/>
            <a:ext cx="18928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Access, upgrades and network actions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281160" y="3611880"/>
            <a:ext cx="1920240" cy="749808"/>
          </a:xfrm>
          <a:prstGeom prst="roundRect">
            <a:avLst>
              <a:gd name="adj" fmla="val 6098"/>
            </a:avLst>
          </a:prstGeom>
          <a:solidFill>
            <a:srgbClr val="F4F0E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09176" y="373989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Burn &amp; route fees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09176" y="3941064"/>
            <a:ext cx="16642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Treasury + scarcity pressure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794760" y="4983480"/>
            <a:ext cx="2103120" cy="749808"/>
          </a:xfrm>
          <a:prstGeom prst="roundRect">
            <a:avLst>
              <a:gd name="adj" fmla="val 6098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22776" y="5111496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Unlock rights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22776" y="5312664"/>
            <a:ext cx="184708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SGEN staking boosts access and governance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68680" y="5440680"/>
            <a:ext cx="27432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5577840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principle: utility moves fast, value stays anchored.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D7C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4980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Tokenomics at a glance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129844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D7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working assumptions favor discipline: capped core supply, controlled utility emissions, and clear vesting.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877824" y="1627632"/>
            <a:ext cx="50749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8288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SGEN allocation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931920" y="1847088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D7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supply: 21,000,000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8992" y="2194560"/>
            <a:ext cx="4535424" cy="310896"/>
          </a:xfrm>
          <a:prstGeom prst="rect">
            <a:avLst/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2267712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+ staking rewards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91456" y="226771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78992" y="2587752"/>
            <a:ext cx="4535424" cy="310896"/>
          </a:xfrm>
          <a:prstGeom prst="rect">
            <a:avLst/>
          </a:prstGeom>
          <a:solidFill>
            <a:srgbClr val="F4F0E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660904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Liquidity + market depth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66090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78992" y="2980944"/>
            <a:ext cx="4535424" cy="310896"/>
          </a:xfrm>
          <a:prstGeom prst="rect">
            <a:avLst/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054096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Treasury reserve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91456" y="305409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78992" y="3374136"/>
            <a:ext cx="4535424" cy="310896"/>
          </a:xfrm>
          <a:prstGeom prst="rect">
            <a:avLst/>
          </a:prstGeom>
          <a:solidFill>
            <a:srgbClr val="F4F0E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344728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fund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91456" y="344728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78992" y="3767328"/>
            <a:ext cx="4535424" cy="310896"/>
          </a:xfrm>
          <a:prstGeom prst="rect">
            <a:avLst/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7008" y="3840480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+ founders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91456" y="384048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78992" y="4160520"/>
            <a:ext cx="4535424" cy="310896"/>
          </a:xfrm>
          <a:prstGeom prst="rect">
            <a:avLst/>
          </a:prstGeom>
          <a:solidFill>
            <a:srgbClr val="F4F0E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7008" y="4233672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Partnerships + ecosystem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91456" y="423367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78992" y="4553712"/>
            <a:ext cx="4535424" cy="310896"/>
          </a:xfrm>
          <a:prstGeom prst="rect">
            <a:avLst/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4626864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Bootstrap + airdrops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91456" y="46268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78992" y="5193792"/>
            <a:ext cx="4535424" cy="621792"/>
          </a:xfrm>
          <a:prstGeom prst="roundRect">
            <a:avLst>
              <a:gd name="adj" fmla="val 5882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43584" y="53400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Vesting</a:t>
            </a:r>
            <a:endParaRPr lang="en-US" sz="1160" dirty="0"/>
          </a:p>
          <a:p>
            <a:pPr indent="0" marL="0">
              <a:buNone/>
            </a:pPr>
            <a:r>
              <a:rPr lang="en-US" sz="116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12-month cliff for team/founders, then 24-month linear vesting. No post-deployment minting.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236208" y="1627632"/>
            <a:ext cx="5065776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7376" y="18288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SFUEL emission profile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924544" y="184708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D7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programmed emission: 2.1B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2231136"/>
            <a:ext cx="4535424" cy="347472"/>
          </a:xfrm>
          <a:prstGeom prst="rect">
            <a:avLst/>
          </a:prstGeom>
          <a:solidFill>
            <a:srgbClr val="F6F5F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01968" y="2322576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1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260336" y="232257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140" dirty="0"/>
          </a:p>
        </p:txBody>
      </p:sp>
      <p:sp>
        <p:nvSpPr>
          <p:cNvPr id="36" name="Text 34"/>
          <p:cNvSpPr/>
          <p:nvPr/>
        </p:nvSpPr>
        <p:spPr>
          <a:xfrm>
            <a:off x="7827264" y="2322576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Bootstrap activity and early participation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92240" y="2734056"/>
            <a:ext cx="4535424" cy="347472"/>
          </a:xfrm>
          <a:prstGeom prst="rect">
            <a:avLst/>
          </a:prstGeom>
          <a:solidFill>
            <a:srgbClr val="F3F5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01968" y="2825496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2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260336" y="282549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75%</a:t>
            </a:r>
            <a:endParaRPr lang="en-US" sz="1140" dirty="0"/>
          </a:p>
        </p:txBody>
      </p:sp>
      <p:sp>
        <p:nvSpPr>
          <p:cNvPr id="40" name="Text 38"/>
          <p:cNvSpPr/>
          <p:nvPr/>
        </p:nvSpPr>
        <p:spPr>
          <a:xfrm>
            <a:off x="7827264" y="2825496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inflation as adoption matures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92240" y="3236976"/>
            <a:ext cx="4535424" cy="347472"/>
          </a:xfrm>
          <a:prstGeom prst="rect">
            <a:avLst/>
          </a:prstGeom>
          <a:solidFill>
            <a:srgbClr val="F6F5F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01968" y="3328416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3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260336" y="332841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55%</a:t>
            </a:r>
            <a:endParaRPr lang="en-US" sz="1140" dirty="0"/>
          </a:p>
        </p:txBody>
      </p:sp>
      <p:sp>
        <p:nvSpPr>
          <p:cNvPr id="44" name="Text 42"/>
          <p:cNvSpPr/>
          <p:nvPr/>
        </p:nvSpPr>
        <p:spPr>
          <a:xfrm>
            <a:off x="7827264" y="3328416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 emphasis toward spend sinks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92240" y="3739896"/>
            <a:ext cx="4535424" cy="347472"/>
          </a:xfrm>
          <a:prstGeom prst="rect">
            <a:avLst/>
          </a:prstGeom>
          <a:solidFill>
            <a:srgbClr val="F3F5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01968" y="3831336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4+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260336" y="383133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</a:t>
            </a:r>
            <a:endParaRPr lang="en-US" sz="1140" dirty="0"/>
          </a:p>
        </p:txBody>
      </p:sp>
      <p:sp>
        <p:nvSpPr>
          <p:cNvPr id="48" name="Text 46"/>
          <p:cNvSpPr/>
          <p:nvPr/>
        </p:nvSpPr>
        <p:spPr>
          <a:xfrm>
            <a:off x="7827264" y="3831336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Stabilize under governance review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492240" y="45262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sinks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6492240" y="4773168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F4F0E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4846320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upgrades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650224" y="4773168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50224" y="4846320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access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92240" y="5212080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F4F0E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0" y="528523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entry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650224" y="5212080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50224" y="528523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 fees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492240" y="5577840"/>
            <a:ext cx="4590288" cy="237744"/>
          </a:xfrm>
          <a:prstGeom prst="roundRect">
            <a:avLst>
              <a:gd name="adj" fmla="val 15385"/>
            </a:avLst>
          </a:prstGeom>
          <a:solidFill>
            <a:srgbClr val="EEE8D8"/>
          </a:solidFill>
          <a:ln w="12700">
            <a:solidFill>
              <a:srgbClr val="EEE8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83680" y="5632704"/>
            <a:ext cx="4407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 should be spent, burned and recirculated — not hoarded as the main store of value.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D7C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4980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Operating system: staking, treasury and governance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129844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D7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two tokens become durable only when the surrounding rules are disciplined.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877824" y="1737360"/>
            <a:ext cx="2743200" cy="43708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37360"/>
            <a:ext cx="2743200" cy="420624"/>
          </a:xfrm>
          <a:prstGeom prst="rect">
            <a:avLst/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86537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Staking tiers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087368" y="1737360"/>
            <a:ext cx="2743200" cy="43708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87368" y="1737360"/>
            <a:ext cx="2743200" cy="420624"/>
          </a:xfrm>
          <a:prstGeom prst="rect">
            <a:avLst/>
          </a:prstGeom>
          <a:solidFill>
            <a:srgbClr val="F4F0E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86537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Treasury routing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33488" y="1737360"/>
            <a:ext cx="2743200" cy="43708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33488" y="1737360"/>
            <a:ext cx="2743200" cy="420624"/>
          </a:xfrm>
          <a:prstGeom prst="rect">
            <a:avLst/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186537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scope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024128" y="2395728"/>
            <a:ext cx="2450592" cy="402336"/>
          </a:xfrm>
          <a:prstGeom prst="rect">
            <a:avLst/>
          </a:prstGeom>
          <a:solidFill>
            <a:srgbClr val="F6F5F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2468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609344" y="2468880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 SGEN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2322576" y="2468880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reward boost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1024128" y="2926080"/>
            <a:ext cx="2450592" cy="402336"/>
          </a:xfrm>
          <a:prstGeom prst="rect">
            <a:avLst/>
          </a:prstGeom>
          <a:solidFill>
            <a:srgbClr val="F0F3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299923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609344" y="2999232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5,000 SGEN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2322576" y="2999232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SFUEL multiplier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1024128" y="3456432"/>
            <a:ext cx="2450592" cy="402336"/>
          </a:xfrm>
          <a:prstGeom prst="rect">
            <a:avLst/>
          </a:prstGeom>
          <a:solidFill>
            <a:srgbClr val="F6F5F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352958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3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609344" y="3529584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25,000 SGEN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2322576" y="3529584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access + stronger weight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1024128" y="3986784"/>
            <a:ext cx="2450592" cy="402336"/>
          </a:xfrm>
          <a:prstGeom prst="rect">
            <a:avLst/>
          </a:prstGeom>
          <a:solidFill>
            <a:srgbClr val="F0F3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" y="405993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609344" y="4059936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100,000 SGEN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2322576" y="4059936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Top-tier governance + highest multiplier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1060704" y="4809744"/>
            <a:ext cx="23225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D7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Lockups can increase multipliers and reduce short-term sell pressure.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242816" y="2395728"/>
            <a:ext cx="2432304" cy="438912"/>
          </a:xfrm>
          <a:prstGeom prst="rect">
            <a:avLst/>
          </a:prstGeom>
          <a:solidFill>
            <a:srgbClr val="F6F5F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52544" y="248716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09744" y="2487168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Treasury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522976" y="2487168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Ops, grants, liquidity support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4242816" y="2980944"/>
            <a:ext cx="2432304" cy="438912"/>
          </a:xfrm>
          <a:prstGeom prst="rect">
            <a:avLst/>
          </a:prstGeom>
          <a:solidFill>
            <a:srgbClr val="F8F6E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52544" y="30723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09744" y="3072384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SFUEL burn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522976" y="3072384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Scarcity pressure + supply control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4242816" y="3566160"/>
            <a:ext cx="2432304" cy="438912"/>
          </a:xfrm>
          <a:prstGeom prst="rect">
            <a:avLst/>
          </a:prstGeom>
          <a:solidFill>
            <a:srgbClr val="F6F5F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52544" y="365760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809744" y="365760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Staking support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522976" y="3657600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 participation economics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4242816" y="4151376"/>
            <a:ext cx="2432304" cy="438912"/>
          </a:xfrm>
          <a:prstGeom prst="rect">
            <a:avLst/>
          </a:prstGeom>
          <a:solidFill>
            <a:srgbClr val="F8F6E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52544" y="424281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809744" y="424281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wallet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522976" y="4242816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Campaigns, partners, expansion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4279392" y="4809744"/>
            <a:ext cx="234086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D7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Treasury should be multi-signature controlled — not a single founder wallet.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552944" y="2395728"/>
            <a:ext cx="2322576" cy="2066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Treasury directions and ecosystem budget use</a:t>
            </a:r>
            <a:pPr indent="0" marL="0">
              <a:buNone/>
            </a:pPr>
            <a:r>
              <a:rPr lang="en-US" sz="132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Emission changes inside predefined policy bands</a:t>
            </a:r>
            <a:pPr indent="0" marL="0">
              <a:buNone/>
            </a:pPr>
            <a:r>
              <a:rPr lang="en-US" sz="132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Burn-policy adjustments and major partnerships</a:t>
            </a:r>
            <a:pPr indent="0" marL="0">
              <a:buNone/>
            </a:pPr>
            <a:r>
              <a:rPr lang="en-US" sz="132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rollouts that change economics or access</a:t>
            </a:r>
            <a:endParaRPr lang="en-US" sz="1320" dirty="0"/>
          </a:p>
        </p:txBody>
      </p:sp>
      <p:sp>
        <p:nvSpPr>
          <p:cNvPr id="48" name="Shape 46"/>
          <p:cNvSpPr/>
          <p:nvPr/>
        </p:nvSpPr>
        <p:spPr>
          <a:xfrm>
            <a:off x="7571232" y="4956048"/>
            <a:ext cx="2286000" cy="749808"/>
          </a:xfrm>
          <a:prstGeom prst="roundRect">
            <a:avLst>
              <a:gd name="adj" fmla="val 6098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17536" y="512064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principle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at launch. Expand only when the ecosystem matures.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D7C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4980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to launch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129844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D7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in stages: lock the design, prove the mechanics, then launch with discipline.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1143000" y="3337560"/>
            <a:ext cx="9784080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9344" y="3090672"/>
            <a:ext cx="493776" cy="493776"/>
          </a:xfrm>
          <a:prstGeom prst="ellipse">
            <a:avLst/>
          </a:prstGeom>
          <a:solidFill>
            <a:srgbClr val="08162F"/>
          </a:solidFill>
          <a:ln w="12700">
            <a:solidFill>
              <a:srgbClr val="0816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56232" y="2715768"/>
            <a:ext cx="0" cy="69494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1874520"/>
            <a:ext cx="1737360" cy="841248"/>
          </a:xfrm>
          <a:prstGeom prst="roundRect">
            <a:avLst>
              <a:gd name="adj" fmla="val 5435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98424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Foundation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1097280" y="2167128"/>
            <a:ext cx="1517904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Brand, names, supply, litepaper, treasury controls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749040" y="3090672"/>
            <a:ext cx="493776" cy="493776"/>
          </a:xfrm>
          <a:prstGeom prst="ellipse">
            <a:avLst/>
          </a:prstGeom>
          <a:solidFill>
            <a:srgbClr val="CFA85D"/>
          </a:solidFill>
          <a:ln w="12700">
            <a:solidFill>
              <a:srgbClr val="CFA85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95928" y="3584448"/>
            <a:ext cx="0" cy="23774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3822192"/>
            <a:ext cx="1737360" cy="841248"/>
          </a:xfrm>
          <a:prstGeom prst="roundRect">
            <a:avLst>
              <a:gd name="adj" fmla="val 5435"/>
            </a:avLst>
          </a:prstGeom>
          <a:solidFill>
            <a:srgbClr val="F4F0E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393192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Build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3236976" y="4114800"/>
            <a:ext cx="1517904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Contracts, staking logic, burn flow, test environment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888736" y="3090672"/>
            <a:ext cx="493776" cy="493776"/>
          </a:xfrm>
          <a:prstGeom prst="ellipse">
            <a:avLst/>
          </a:prstGeom>
          <a:solidFill>
            <a:srgbClr val="08162F"/>
          </a:solidFill>
          <a:ln w="12700">
            <a:solidFill>
              <a:srgbClr val="0816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35624" y="2715768"/>
            <a:ext cx="0" cy="69494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66944" y="1874520"/>
            <a:ext cx="1737360" cy="841248"/>
          </a:xfrm>
          <a:prstGeom prst="roundRect">
            <a:avLst>
              <a:gd name="adj" fmla="val 5435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198424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Docs + community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5376672" y="2167128"/>
            <a:ext cx="1517904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Website, FAQs, dashboard story, community channels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8028432" y="3090672"/>
            <a:ext cx="493776" cy="493776"/>
          </a:xfrm>
          <a:prstGeom prst="ellipse">
            <a:avLst/>
          </a:prstGeom>
          <a:solidFill>
            <a:srgbClr val="CFA85D"/>
          </a:solidFill>
          <a:ln w="12700">
            <a:solidFill>
              <a:srgbClr val="CFA85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3584448"/>
            <a:ext cx="0" cy="23774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3822192"/>
            <a:ext cx="1737360" cy="841248"/>
          </a:xfrm>
          <a:prstGeom prst="roundRect">
            <a:avLst>
              <a:gd name="adj" fmla="val 5435"/>
            </a:avLst>
          </a:prstGeom>
          <a:solidFill>
            <a:srgbClr val="F4F0E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393192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Launch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7516368" y="4114800"/>
            <a:ext cx="1517904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Deploy, seed liquidity, activate staking and reward engine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10168128" y="3090672"/>
            <a:ext cx="493776" cy="493776"/>
          </a:xfrm>
          <a:prstGeom prst="ellipse">
            <a:avLst/>
          </a:prstGeom>
          <a:solidFill>
            <a:srgbClr val="08162F"/>
          </a:solidFill>
          <a:ln w="12700">
            <a:solidFill>
              <a:srgbClr val="08162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15016" y="2715768"/>
            <a:ext cx="0" cy="69494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46336" y="1874520"/>
            <a:ext cx="1737360" cy="841248"/>
          </a:xfrm>
          <a:prstGeom prst="roundRect">
            <a:avLst>
              <a:gd name="adj" fmla="val 5435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37776" y="198424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Expansion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9656064" y="2167128"/>
            <a:ext cx="1517904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Governance, partnerships, premium utilities, reporting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932688" y="5349240"/>
            <a:ext cx="1029614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52144" y="5504688"/>
            <a:ext cx="9857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pre-launch review: Australian legal review, token classification/compliance check, external smart contract audit, and public-facing disclaimers that avoid promises of profit or guaranteed returns.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D7C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4980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must be true before a public launch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129844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D7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story matters, but execution discipline matters more.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877824" y="1737360"/>
            <a:ext cx="5047488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938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checklist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60704" y="2304288"/>
            <a:ext cx="429768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logo and identity system</a:t>
            </a:r>
            <a:pPr indent="0" marL="0">
              <a:buNone/>
            </a:pPr>
            <a:r>
              <a:rPr lang="en-US" sz="140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One-page website + whitepaper + FAQ</a:t>
            </a:r>
            <a:pPr indent="0" marL="0">
              <a:buNone/>
            </a:pPr>
            <a:r>
              <a:rPr lang="en-US" sz="140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contracts and vesting wallets mapped</a:t>
            </a:r>
            <a:pPr indent="0" marL="0">
              <a:buNone/>
            </a:pPr>
            <a:r>
              <a:rPr lang="en-US" sz="140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Staking dashboard and reward claim flow designed</a:t>
            </a:r>
            <a:pPr indent="0" marL="0">
              <a:buNone/>
            </a:pPr>
            <a:r>
              <a:rPr lang="en-US" sz="140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Treasury reporting model defined</a:t>
            </a:r>
            <a:pPr indent="0" marL="0">
              <a:buNone/>
            </a:pPr>
            <a:r>
              <a:rPr lang="en-US" sz="140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launch posts and founder narrative ready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6208" y="1737360"/>
            <a:ext cx="5047488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7376" y="1938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to manage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37376" y="2267712"/>
            <a:ext cx="4498848" cy="493776"/>
          </a:xfrm>
          <a:prstGeom prst="roundRect">
            <a:avLst>
              <a:gd name="adj" fmla="val 5556"/>
            </a:avLst>
          </a:prstGeom>
          <a:solidFill>
            <a:srgbClr val="F4F0E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235915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risk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7552944" y="235915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bug in minting, staking or treasury paths can damage trust instantly.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37376" y="2980944"/>
            <a:ext cx="4498848" cy="493776"/>
          </a:xfrm>
          <a:prstGeom prst="roundRect">
            <a:avLst>
              <a:gd name="adj" fmla="val 5556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30723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Emissions risk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7552944" y="3072384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SFUEL is too loose, it weakens utility and undermines the loop.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437376" y="3694176"/>
            <a:ext cx="4498848" cy="493776"/>
          </a:xfrm>
          <a:prstGeom prst="roundRect">
            <a:avLst>
              <a:gd name="adj" fmla="val 5556"/>
            </a:avLst>
          </a:prstGeom>
          <a:solidFill>
            <a:srgbClr val="F4F0E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378561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Liquidity risk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7552944" y="3785616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 markets can distort price discovery and community sentiment.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437376" y="4407408"/>
            <a:ext cx="4498848" cy="493776"/>
          </a:xfrm>
          <a:prstGeom prst="roundRect">
            <a:avLst>
              <a:gd name="adj" fmla="val 5556"/>
            </a:avLst>
          </a:prstGeom>
          <a:solidFill>
            <a:srgbClr val="E2EAF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449884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risk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7552944" y="4498848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A33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language and token design must survive legal and tax review.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437376" y="5413248"/>
            <a:ext cx="4498848" cy="347472"/>
          </a:xfrm>
          <a:prstGeom prst="roundRect">
            <a:avLst>
              <a:gd name="adj" fmla="val 10526"/>
            </a:avLst>
          </a:prstGeom>
          <a:solidFill>
            <a:srgbClr val="EEE8D8"/>
          </a:solidFill>
          <a:ln w="12700">
            <a:solidFill>
              <a:srgbClr val="EEE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5522976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objective is a durable ecosystem — not a rushed launch.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D7C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621792"/>
            <a:ext cx="10789920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6254496"/>
            <a:ext cx="10789920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170432"/>
            <a:ext cx="724205" cy="724205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CFA8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026" y="1281074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94A3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7085" y="1311250"/>
            <a:ext cx="241402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7085" y="1753819"/>
            <a:ext cx="241402" cy="0"/>
          </a:xfrm>
          <a:prstGeom prst="line">
            <a:avLst/>
          </a:prstGeom>
          <a:noFill/>
          <a:ln w="12700">
            <a:solidFill>
              <a:srgbClr val="CFA8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64208" y="1243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Satoshi Genesis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64208" y="160934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2D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cleaner way to separate value from velocity.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42416" y="274320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token holds value. One token powers the engine.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20240" y="34564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3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SGEN anchors staking, governance and long-term alignment.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3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SFUEL drives rewards, spend and ecosystem activity.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83280" y="4736592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102244"/>
          </a:solidFill>
          <a:ln w="12700">
            <a:solidFill>
              <a:srgbClr val="2743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4919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network. Earn the fuel. Strengthen the core.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786384" y="649224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5DB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pitch deck v1 | Todd Jackson approved working direction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Satoshi Genesis — Pitch Deck v1</dc:title>
  <dc:subject>Satoshi Genesis pitch deck</dc:subject>
  <dc:creator>OpenAI</dc:creator>
  <cp:lastModifiedBy>OpenAI</cp:lastModifiedBy>
  <cp:revision>1</cp:revision>
  <dcterms:created xsi:type="dcterms:W3CDTF">2026-04-11T22:38:06Z</dcterms:created>
  <dcterms:modified xsi:type="dcterms:W3CDTF">2026-04-11T22:38:06Z</dcterms:modified>
</cp:coreProperties>
</file>